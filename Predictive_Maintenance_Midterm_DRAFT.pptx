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Failures vs non-failures (10,000 cycles)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Cycles</c:v>
                </c:pt>
              </c:strCache>
            </c:strRef>
          </c:tx>
          <c:spPr>
            <a:solidFill>
              <a:srgbClr val="2553E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failure</c:v>
                  </c:pt>
                  <c:pt idx="1">
                    <c:v>Failure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9661</c:v>
                </c:pt>
                <c:pt idx="1">
                  <c:v>339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8C0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8C0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541"/>
        </a:solidFill>
        <a:ln>
          <a:noFill/>
        </a:ln>
        <a:effectLst/>
      </c:spPr>
    </c:plotArea>
    <c:plotVisOnly val="1"/>
    <c:dispBlanksAs val="span"/>
  </c:chart>
  <c:spPr>
    <a:solidFill>
      <a:srgbClr val="1B254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0"/>
            <a:ext cx="2743200" cy="5143500"/>
          </a:xfrm>
          <a:prstGeom prst="rtTriangle">
            <a:avLst/>
          </a:prstGeom>
          <a:solidFill>
            <a:srgbClr val="2553E6"/>
          </a:solidFill>
          <a:ln w="12700">
            <a:solidFill>
              <a:srgbClr val="2553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1463040" y="0"/>
            <a:ext cx="1554480" cy="514350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8328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Presentation: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383280" y="1783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</a:t>
            </a:r>
            <a:pPr indent="0" marL="0">
              <a:buNone/>
            </a:pPr>
            <a:r>
              <a:rPr lang="en-US" sz="34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Analytics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383280" y="26060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machine failure from live sensor data — and the MLOps pipeline behind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Nate · Ivo   |   neuefische AI Engineering Bootcamp · Cohort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May 2026  ·  Draft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0"/>
            <a:ext cx="2377440" cy="5143500"/>
          </a:xfrm>
          <a:prstGeom prst="rtTriangle">
            <a:avLst/>
          </a:prstGeom>
          <a:solidFill>
            <a:srgbClr val="2553E6"/>
          </a:solidFill>
          <a:ln w="12700">
            <a:solidFill>
              <a:srgbClr val="2553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1188720" y="0"/>
            <a:ext cx="1463040" cy="514350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0"/>
            <a:ext cx="502920" cy="502920"/>
          </a:xfrm>
          <a:prstGeom prst="rtTriangle">
            <a:avLst/>
          </a:prstGeom>
          <a:solidFill>
            <a:srgbClr val="2553E6"/>
          </a:solidFill>
          <a:ln w="12700">
            <a:solidFill>
              <a:srgbClr val="2553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502920" y="0"/>
            <a:ext cx="365760" cy="36576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 is </a:t>
            </a:r>
            <a:pPr indent="0" marL="0">
              <a:buNone/>
            </a:pPr>
            <a:r>
              <a:rPr lang="en-US" sz="22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factories still fix machines after they break.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4023360" cy="2377440"/>
          </a:xfrm>
          <a:prstGeom prst="rect">
            <a:avLst/>
          </a:prstGeom>
          <a:solidFill>
            <a:srgbClr val="1B2541"/>
          </a:solidFill>
          <a:ln w="12700">
            <a:solidFill>
              <a:srgbClr val="2A3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€thousands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hour of unplanned downtime in manufacturing.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023360" cy="2377440"/>
          </a:xfrm>
          <a:prstGeom prst="rect">
            <a:avLst/>
          </a:prstGeom>
          <a:solidFill>
            <a:srgbClr val="1B2541"/>
          </a:solidFill>
          <a:ln w="12700">
            <a:solidFill>
              <a:srgbClr val="2A35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737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modes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92040" y="26060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react after breakage  ·  replace on a fixed schedule.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reads live sensor data and flags imminent failure changes that. Maintenance becomes intelligently planned, not reactive.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· Midterm · Preempt Analytics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0"/>
            <a:ext cx="502920" cy="502920"/>
          </a:xfrm>
          <a:prstGeom prst="rtTriangle">
            <a:avLst/>
          </a:prstGeom>
          <a:solidFill>
            <a:srgbClr val="2553E6"/>
          </a:solidFill>
          <a:ln w="12700">
            <a:solidFill>
              <a:srgbClr val="2553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502920" y="0"/>
            <a:ext cx="365760" cy="36576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this? — </a:t>
            </a:r>
            <a:pPr indent="0" marL="0">
              <a:buNone/>
            </a:pPr>
            <a:r>
              <a:rPr lang="en-US" sz="22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Sara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persona — to refine before final.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3474720" cy="3017520"/>
          </a:xfrm>
          <a:prstGeom prst="rect">
            <a:avLst/>
          </a:prstGeom>
          <a:solidFill>
            <a:srgbClr val="1B2541"/>
          </a:solidFill>
          <a:ln w="12700">
            <a:solidFill>
              <a:srgbClr val="2A3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Müller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Engineer at a mid-sized CNC plant.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uptime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sensor data daily.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spares on a fixed schedule.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challenge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97680" y="2011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 failing tool before the shift ends.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replacing a part now vs. next week.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under €X maintenance budget per quarter.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getting it wrong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97680" y="39319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a failure → unplanned line stop.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 wolf → wasted parts and labour.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· Midterm · Preempt Analytics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0"/>
            <a:ext cx="502920" cy="502920"/>
          </a:xfrm>
          <a:prstGeom prst="rtTriangle">
            <a:avLst/>
          </a:prstGeom>
          <a:solidFill>
            <a:srgbClr val="2553E6"/>
          </a:solidFill>
          <a:ln w="12700">
            <a:solidFill>
              <a:srgbClr val="2553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502920" y="0"/>
            <a:ext cx="365760" cy="36576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</a:t>
            </a:r>
            <a:pPr indent="0" marL="0">
              <a:buNone/>
            </a:pPr>
            <a:r>
              <a:rPr lang="en-US" sz="22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solidFill>
            <a:srgbClr val="1B2541"/>
          </a:solidFill>
          <a:ln w="25400">
            <a:solidFill>
              <a:srgbClr val="2ED5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173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can a machine learning model predict equipment failure and failure mode from real-time sensor readings — and what kind of MLOps pipeline best supports that?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deliverables, equal weight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023360" cy="1371600"/>
          </a:xfrm>
          <a:prstGeom prst="rect">
            <a:avLst/>
          </a:prstGeom>
          <a:solidFill>
            <a:srgbClr val="1B2541"/>
          </a:solidFill>
          <a:ln w="12700">
            <a:solidFill>
              <a:srgbClr val="2A3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37033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failure (binary) and failure mode (5-class) from sensor readings.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3200400"/>
            <a:ext cx="4023360" cy="1371600"/>
          </a:xfrm>
          <a:prstGeom prst="rect">
            <a:avLst/>
          </a:prstGeom>
          <a:solidFill>
            <a:srgbClr val="1B2541"/>
          </a:solidFill>
          <a:ln w="12700">
            <a:solidFill>
              <a:srgbClr val="2A3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92040" y="37033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MLOps: tracking, serving, CI/CD, monitoring.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· Midterm · Preempt Analytics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0"/>
            <a:ext cx="2377440" cy="5143500"/>
          </a:xfrm>
          <a:prstGeom prst="rtTriangle">
            <a:avLst/>
          </a:prstGeom>
          <a:solidFill>
            <a:srgbClr val="2553E6"/>
          </a:solidFill>
          <a:ln w="12700">
            <a:solidFill>
              <a:srgbClr val="2553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1188720" y="0"/>
            <a:ext cx="1463040" cy="514350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EDA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0"/>
            <a:ext cx="502920" cy="502920"/>
          </a:xfrm>
          <a:prstGeom prst="rtTriangle">
            <a:avLst/>
          </a:prstGeom>
          <a:solidFill>
            <a:srgbClr val="2553E6"/>
          </a:solidFill>
          <a:ln w="12700">
            <a:solidFill>
              <a:srgbClr val="2553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502920" y="0"/>
            <a:ext cx="365760" cy="36576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dataset: </a:t>
            </a:r>
            <a:pPr indent="0" marL="0">
              <a:buNone/>
            </a:pPr>
            <a:r>
              <a:rPr lang="en-US" sz="22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AI4I 2020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— simulated CNC machine with five failure modes.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377440" cy="1371600"/>
          </a:xfrm>
          <a:prstGeom prst="rect">
            <a:avLst/>
          </a:prstGeom>
          <a:solidFill>
            <a:srgbClr val="1B2541"/>
          </a:solidFill>
          <a:ln w="12700">
            <a:solidFill>
              <a:srgbClr val="2A3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· one per machine cycle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1371600"/>
            <a:ext cx="2377440" cy="1371600"/>
          </a:xfrm>
          <a:prstGeom prst="rect">
            <a:avLst/>
          </a:prstGeom>
          <a:solidFill>
            <a:srgbClr val="1B2541"/>
          </a:solidFill>
          <a:ln w="12700">
            <a:solidFill>
              <a:srgbClr val="2A35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66160" y="2148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+ categorical features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2377440" cy="1371600"/>
          </a:xfrm>
          <a:prstGeom prst="rect">
            <a:avLst/>
          </a:prstGeom>
          <a:solidFill>
            <a:srgbClr val="1B2541"/>
          </a:solidFill>
          <a:ln w="12700">
            <a:solidFill>
              <a:srgbClr val="2A3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~3.4%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92240" y="2148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— heavy imbalance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 we see each cycle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temperature  ·  process temperature  ·  rotational speed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 ·  tool wear  ·  machine type (L / M / H)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so far: temp difference · power (torque × rpm) · overstrain (torque × wear) · wear % · safe-power flag · heat-dissipation risk flag.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· Midterm · Preempt Analytics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0"/>
            <a:ext cx="502920" cy="502920"/>
          </a:xfrm>
          <a:prstGeom prst="rtTriangle">
            <a:avLst/>
          </a:prstGeom>
          <a:solidFill>
            <a:srgbClr val="2553E6"/>
          </a:solidFill>
          <a:ln w="12700">
            <a:solidFill>
              <a:srgbClr val="2553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502920" y="0"/>
            <a:ext cx="365760" cy="36576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the machine can </a:t>
            </a:r>
            <a:pPr indent="0" marL="0">
              <a:buNone/>
            </a:pPr>
            <a:r>
              <a:rPr lang="en-US" sz="22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017520"/>
                <a:gridCol w="4206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D5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D5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D5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triggers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Wear Failure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exceeds wear 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Dissipation Failure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 differential too low at low RPM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Failure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Torque × speed outside safe band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Overstrain Failure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wear × torque exceeds limit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Failure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Unpredictable — ~0.1% of cases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is the honest reminder: ~0.1% of failures we cannot predict from sensors. Our model is judged on the other four.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· Midterm · Preempt Analytics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0"/>
            <a:ext cx="502920" cy="502920"/>
          </a:xfrm>
          <a:prstGeom prst="rtTriangle">
            <a:avLst/>
          </a:prstGeom>
          <a:solidFill>
            <a:srgbClr val="2553E6"/>
          </a:solidFill>
          <a:ln w="12700">
            <a:solidFill>
              <a:srgbClr val="2553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502920" y="0"/>
            <a:ext cx="365760" cy="36576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challenge: </a:t>
            </a:r>
            <a:pPr indent="0" marL="0">
              <a:buNone/>
            </a:pPr>
            <a:r>
              <a:rPr lang="en-US" sz="22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371600"/>
          <a:ext cx="47548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4864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0" y="178308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accuracy is useless — predicting 'no failure' every time scores 96.6%.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track F1, precision, recall — not accuracy.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class-weighted XGBoost (scale_pos_weight ≈ 28).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· Midterm · Preempt Analytics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0"/>
            <a:ext cx="2377440" cy="5143500"/>
          </a:xfrm>
          <a:prstGeom prst="rtTriangle">
            <a:avLst/>
          </a:prstGeom>
          <a:solidFill>
            <a:srgbClr val="2553E6"/>
          </a:solidFill>
          <a:ln w="12700">
            <a:solidFill>
              <a:srgbClr val="2553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1188720" y="0"/>
            <a:ext cx="1463040" cy="514350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0"/>
            <a:ext cx="502920" cy="502920"/>
          </a:xfrm>
          <a:prstGeom prst="rtTriangle">
            <a:avLst/>
          </a:prstGeom>
          <a:solidFill>
            <a:srgbClr val="2553E6"/>
          </a:solidFill>
          <a:ln w="12700">
            <a:solidFill>
              <a:srgbClr val="2553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502920" y="0"/>
            <a:ext cx="365760" cy="36576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</a:t>
            </a:r>
            <a:pPr indent="0" marL="0">
              <a:buNone/>
            </a:pPr>
            <a:r>
              <a:rPr lang="en-US" sz="22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023360" cy="2194560"/>
          </a:xfrm>
          <a:prstGeom prst="rect">
            <a:avLst/>
          </a:prstGeom>
          <a:solidFill>
            <a:srgbClr val="1B2541"/>
          </a:solidFill>
          <a:ln w="12700">
            <a:solidFill>
              <a:srgbClr val="2A3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this machine fail?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800" y="26060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XGBoost. Target: machine_failure.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023360" cy="2194560"/>
          </a:xfrm>
          <a:prstGeom prst="rect">
            <a:avLst/>
          </a:prstGeom>
          <a:solidFill>
            <a:srgbClr val="1B2541"/>
          </a:solidFill>
          <a:ln w="12700">
            <a:solidFill>
              <a:srgbClr val="2A35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92040" y="1874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so, how will it fail?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92040" y="26060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5-way: TWF · HDF · PWF · OSF · RNF (none = no failure).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training pipeline. Same features. Different target. Both wired into MLflow as separate experiments.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· Midterm · Preempt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0"/>
            <a:ext cx="502920" cy="502920"/>
          </a:xfrm>
          <a:prstGeom prst="rtTriangle">
            <a:avLst/>
          </a:prstGeom>
          <a:solidFill>
            <a:srgbClr val="2553E6"/>
          </a:solidFill>
          <a:ln w="12700">
            <a:solidFill>
              <a:srgbClr val="2553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502920" y="0"/>
            <a:ext cx="365760" cy="36576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</a:t>
            </a:r>
            <a:pPr indent="0" marL="0">
              <a:buNone/>
            </a:pPr>
            <a:r>
              <a:rPr lang="en-US" sz="22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today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XGBoost · test set · 20% holdout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2377440" cy="1371600"/>
          </a:xfrm>
          <a:prstGeom prst="rect">
            <a:avLst/>
          </a:prstGeom>
          <a:solidFill>
            <a:srgbClr val="1B2541"/>
          </a:solidFill>
          <a:ln w="12700">
            <a:solidFill>
              <a:srgbClr val="2A3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17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(test)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1325880"/>
            <a:ext cx="2377440" cy="1371600"/>
          </a:xfrm>
          <a:prstGeom prst="rect">
            <a:avLst/>
          </a:prstGeom>
          <a:solidFill>
            <a:srgbClr val="1B2541"/>
          </a:solidFill>
          <a:ln w="12700">
            <a:solidFill>
              <a:srgbClr val="2A35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417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56616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(test)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325880"/>
            <a:ext cx="2377440" cy="1371600"/>
          </a:xfrm>
          <a:prstGeom prst="rect">
            <a:avLst/>
          </a:prstGeom>
          <a:solidFill>
            <a:srgbClr val="1B2541"/>
          </a:solidFill>
          <a:ln w="12700">
            <a:solidFill>
              <a:srgbClr val="2A3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417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9224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(test)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catch roughly 2 out of every 3 failures, and 2 of every 3 alerts are real.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baseline — but not yet good enough for Sara to trust unsupervised.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Optuna tuning + better features are the next levers (see Outlook).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· Midterm · Preempt Analytics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0"/>
            <a:ext cx="2377440" cy="5143500"/>
          </a:xfrm>
          <a:prstGeom prst="rtTriangle">
            <a:avLst/>
          </a:prstGeom>
          <a:solidFill>
            <a:srgbClr val="2553E6"/>
          </a:solidFill>
          <a:ln w="12700">
            <a:solidFill>
              <a:srgbClr val="2553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1188720" y="0"/>
            <a:ext cx="1463040" cy="514350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MLOps Pipeline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0"/>
            <a:ext cx="502920" cy="502920"/>
          </a:xfrm>
          <a:prstGeom prst="rtTriangle">
            <a:avLst/>
          </a:prstGeom>
          <a:solidFill>
            <a:srgbClr val="2553E6"/>
          </a:solidFill>
          <a:ln w="12700">
            <a:solidFill>
              <a:srgbClr val="2553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502920" y="0"/>
            <a:ext cx="365760" cy="36576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the </a:t>
            </a:r>
            <a:pPr indent="0" marL="0">
              <a:buNone/>
            </a:pPr>
            <a:r>
              <a:rPr lang="en-US" sz="22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Experiments → Serving → CI/CD → Monitoring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1627632" cy="1463040"/>
          </a:xfrm>
          <a:prstGeom prst="rect">
            <a:avLst/>
          </a:prstGeom>
          <a:solidFill>
            <a:srgbClr val="1B2541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0020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9659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39112" y="1508760"/>
            <a:ext cx="1627632" cy="1463040"/>
          </a:xfrm>
          <a:prstGeom prst="rect">
            <a:avLst/>
          </a:prstGeom>
          <a:solidFill>
            <a:srgbClr val="1B2541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160020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76272" y="19659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76272" y="237744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12464" y="1508760"/>
            <a:ext cx="1627632" cy="1463040"/>
          </a:xfrm>
          <a:prstGeom prst="rect">
            <a:avLst/>
          </a:prstGeom>
          <a:solidFill>
            <a:srgbClr val="1B2541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9624" y="160020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9624" y="19659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9624" y="237744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Docker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85816" y="1508760"/>
            <a:ext cx="1627632" cy="1463040"/>
          </a:xfrm>
          <a:prstGeom prst="rect">
            <a:avLst/>
          </a:prstGeom>
          <a:solidFill>
            <a:srgbClr val="1B2541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22976" y="160020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22976" y="19659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22976" y="237744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59168" y="1508760"/>
            <a:ext cx="1627632" cy="1463040"/>
          </a:xfrm>
          <a:prstGeom prst="rect">
            <a:avLst/>
          </a:prstGeom>
          <a:solidFill>
            <a:srgbClr val="1B2541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96328" y="160020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96328" y="19659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96328" y="237744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246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(today)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3611880"/>
            <a:ext cx="164592" cy="164592"/>
          </a:xfrm>
          <a:prstGeom prst="ellips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538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scaffolding · MLflow tracking · binary + multiclass experiments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977640"/>
            <a:ext cx="164592" cy="164592"/>
          </a:xfrm>
          <a:prstGeom prst="ellipse">
            <a:avLst/>
          </a:prstGeom>
          <a:solidFill>
            <a:srgbClr val="2553E6"/>
          </a:solidFill>
          <a:ln w="12700">
            <a:solidFill>
              <a:srgbClr val="2553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904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5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· Dockerised inference · model registry promotion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34340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270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· Prometheus + Grafana dashboard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· Midterm · Preempt Analytics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0"/>
            <a:ext cx="502920" cy="502920"/>
          </a:xfrm>
          <a:prstGeom prst="rtTriangle">
            <a:avLst/>
          </a:prstGeom>
          <a:solidFill>
            <a:srgbClr val="2553E6"/>
          </a:solidFill>
          <a:ln w="12700">
            <a:solidFill>
              <a:srgbClr val="2553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502920" y="0"/>
            <a:ext cx="365760" cy="36576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201168"/>
            <a:ext cx="164592" cy="18288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</a:t>
            </a:r>
            <a:pPr indent="0" marL="0">
              <a:buNone/>
            </a:pPr>
            <a:r>
              <a:rPr lang="en-US" sz="2200" b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Plain-spoken limits and what we plan to do about each.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D5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today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D5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plateau at ~0.64 on the binary 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Optuna tuning across LightGBM + XGBoost; ensemble of seeds.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Multiclass underperforms on rare modes (RNF)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Per-class metrics; threshold tuning; consider one-vs-rest.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live serving yet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best model in FastAPI; containerise; smoke-test locally.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drift / 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Prometheus exporters and a Grafana dashboard.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static 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 streaming/simulated drift for the final.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1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· Midterm · Preempt Analytics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0"/>
            <a:ext cx="2743200" cy="5143500"/>
          </a:xfrm>
          <a:prstGeom prst="rtTriangle">
            <a:avLst/>
          </a:prstGeom>
          <a:solidFill>
            <a:srgbClr val="2553E6"/>
          </a:solidFill>
          <a:ln w="12700">
            <a:solidFill>
              <a:srgbClr val="2553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1463040" y="0"/>
            <a:ext cx="1554480" cy="5143500"/>
          </a:xfrm>
          <a:prstGeom prst="rtTriangle">
            <a:avLst/>
          </a:prstGeom>
          <a:solidFill>
            <a:srgbClr val="2ED5A4"/>
          </a:solidFill>
          <a:ln w="12700">
            <a:solidFill>
              <a:srgbClr val="2ED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83280" y="17373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38328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pushback, and ideas — all welcome.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83280" y="36576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 Analytics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Nate  ·  Ivo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neuefische AI Engineering Bootcamp · Cohort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 — Midterm</dc:title>
  <dc:subject>PptxGenJS Presentation</dc:subject>
  <dc:creator>Preempt Analytics</dc:creator>
  <cp:lastModifiedBy>Preempt Analytics</cp:lastModifiedBy>
  <cp:revision>1</cp:revision>
  <dcterms:created xsi:type="dcterms:W3CDTF">2026-05-21T12:51:27Z</dcterms:created>
  <dcterms:modified xsi:type="dcterms:W3CDTF">2026-05-21T12:51:27Z</dcterms:modified>
</cp:coreProperties>
</file>